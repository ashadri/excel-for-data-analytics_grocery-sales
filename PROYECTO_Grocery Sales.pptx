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7"/>
  </p:notesMasterIdLst>
  <p:sldIdLst>
    <p:sldId id="256" r:id="rId2"/>
    <p:sldId id="282" r:id="rId3"/>
    <p:sldId id="312" r:id="rId4"/>
    <p:sldId id="288" r:id="rId5"/>
    <p:sldId id="274" r:id="rId6"/>
  </p:sldIdLst>
  <p:sldSz cx="9144000" cy="5143500" type="screen16x9"/>
  <p:notesSz cx="6858000" cy="9144000"/>
  <p:embeddedFontLst>
    <p:embeddedFont>
      <p:font typeface="Maven Pro" panose="020B0604020202020204" charset="0"/>
      <p:regular r:id="rId8"/>
      <p:bold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1EB1D3-416A-4724-8A4E-ADB40F472BCE}">
  <a:tblStyle styleId="{0F1EB1D3-416A-4724-8A4E-ADB40F472B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0E8929-0F1D-44B9-8D77-1BB226A03B5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esktop\BOOTCAMPS\TAREA%202%20GRUPAL\Proyecto%20Integrado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[Proyecto Integrador.xlsx]Graficos!TablaDinámica3</c:name>
    <c:fmtId val="8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-3000000" spcFirstLastPara="1" vertOverflow="overflow" horzOverflow="overflow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/>
          </a:solidFill>
          <a:ln>
            <a:noFill/>
          </a:ln>
          <a:effectLst/>
        </c:spPr>
      </c:pivotFmt>
      <c:pivotFmt>
        <c:idx val="24"/>
        <c:spPr>
          <a:solidFill>
            <a:schemeClr val="accent6"/>
          </a:solidFill>
          <a:ln>
            <a:noFill/>
          </a:ln>
          <a:effectLst/>
        </c:spPr>
      </c:pivotFmt>
      <c:pivotFmt>
        <c:idx val="25"/>
        <c:spPr>
          <a:solidFill>
            <a:schemeClr val="accent6"/>
          </a:solidFill>
          <a:ln>
            <a:noFill/>
          </a:ln>
          <a:effectLst/>
        </c:spPr>
      </c:pivotFmt>
      <c:pivotFmt>
        <c:idx val="26"/>
        <c:spPr>
          <a:solidFill>
            <a:schemeClr val="accent6"/>
          </a:solidFill>
          <a:ln>
            <a:noFill/>
          </a:ln>
          <a:effectLst/>
        </c:spPr>
      </c:pivotFmt>
      <c:pivotFmt>
        <c:idx val="27"/>
        <c:spPr>
          <a:solidFill>
            <a:schemeClr val="accent6"/>
          </a:solidFill>
          <a:ln>
            <a:noFill/>
          </a:ln>
          <a:effectLst/>
        </c:spPr>
      </c:pivotFmt>
      <c:pivotFmt>
        <c:idx val="28"/>
        <c:spPr>
          <a:solidFill>
            <a:schemeClr val="accent6"/>
          </a:solidFill>
          <a:ln>
            <a:noFill/>
          </a:ln>
          <a:effectLst/>
        </c:spPr>
      </c:pivotFmt>
      <c:pivotFmt>
        <c:idx val="29"/>
        <c:spPr>
          <a:solidFill>
            <a:schemeClr val="accent6"/>
          </a:solidFill>
          <a:ln>
            <a:noFill/>
          </a:ln>
          <a:effectLst/>
        </c:spPr>
      </c:pivotFmt>
      <c:pivotFmt>
        <c:idx val="30"/>
        <c:spPr>
          <a:solidFill>
            <a:schemeClr val="accent6"/>
          </a:solidFill>
          <a:ln>
            <a:noFill/>
          </a:ln>
          <a:effectLst/>
        </c:spPr>
      </c:pivotFmt>
      <c:pivotFmt>
        <c:idx val="31"/>
        <c:spPr>
          <a:solidFill>
            <a:schemeClr val="accent6"/>
          </a:solidFill>
          <a:ln>
            <a:noFill/>
          </a:ln>
          <a:effectLst/>
        </c:spPr>
      </c:pivotFmt>
      <c:pivotFmt>
        <c:idx val="32"/>
        <c:spPr>
          <a:solidFill>
            <a:schemeClr val="accent6"/>
          </a:solidFill>
          <a:ln>
            <a:noFill/>
          </a:ln>
          <a:effectLst/>
        </c:spPr>
      </c:pivotFmt>
      <c:pivotFmt>
        <c:idx val="33"/>
        <c:spPr>
          <a:solidFill>
            <a:schemeClr val="accent6"/>
          </a:solidFill>
          <a:ln>
            <a:noFill/>
          </a:ln>
          <a:effectLst/>
        </c:spPr>
      </c:pivotFmt>
      <c:pivotFmt>
        <c:idx val="34"/>
        <c:spPr>
          <a:solidFill>
            <a:schemeClr val="accent6"/>
          </a:solidFill>
          <a:ln>
            <a:noFill/>
          </a:ln>
          <a:effectLst/>
        </c:spPr>
      </c:pivotFmt>
      <c:pivotFmt>
        <c:idx val="35"/>
        <c:spPr>
          <a:solidFill>
            <a:schemeClr val="accent6"/>
          </a:solidFill>
          <a:ln>
            <a:noFill/>
          </a:ln>
          <a:effectLst/>
        </c:spPr>
      </c:pivotFmt>
      <c:pivotFmt>
        <c:idx val="36"/>
        <c:spPr>
          <a:solidFill>
            <a:schemeClr val="accent6"/>
          </a:solidFill>
          <a:ln>
            <a:noFill/>
          </a:ln>
          <a:effectLst/>
        </c:spPr>
      </c:pivotFmt>
      <c:pivotFmt>
        <c:idx val="37"/>
        <c:spPr>
          <a:solidFill>
            <a:schemeClr val="accent6"/>
          </a:solidFill>
          <a:ln>
            <a:noFill/>
          </a:ln>
          <a:effectLst/>
        </c:spPr>
      </c:pivotFmt>
      <c:pivotFmt>
        <c:idx val="38"/>
        <c:spPr>
          <a:solidFill>
            <a:schemeClr val="accent6"/>
          </a:solidFill>
          <a:ln>
            <a:noFill/>
          </a:ln>
          <a:effectLst/>
        </c:spPr>
      </c:pivotFmt>
      <c:pivotFmt>
        <c:idx val="39"/>
        <c:spPr>
          <a:solidFill>
            <a:schemeClr val="accent6"/>
          </a:solidFill>
          <a:ln>
            <a:noFill/>
          </a:ln>
          <a:effectLst/>
        </c:spPr>
      </c:pivotFmt>
      <c:pivotFmt>
        <c:idx val="40"/>
        <c:spPr>
          <a:solidFill>
            <a:schemeClr val="accent6"/>
          </a:solidFill>
          <a:ln>
            <a:noFill/>
          </a:ln>
          <a:effectLst/>
        </c:spPr>
      </c:pivotFmt>
      <c:pivotFmt>
        <c:idx val="41"/>
        <c:spPr>
          <a:solidFill>
            <a:schemeClr val="accent6"/>
          </a:solidFill>
          <a:ln>
            <a:noFill/>
          </a:ln>
          <a:effectLst/>
        </c:spPr>
      </c:pivotFmt>
      <c:pivotFmt>
        <c:idx val="42"/>
        <c:spPr>
          <a:solidFill>
            <a:schemeClr val="accent6"/>
          </a:solidFill>
          <a:ln>
            <a:noFill/>
          </a:ln>
          <a:effectLst/>
        </c:spPr>
      </c:pivotFmt>
      <c:pivotFmt>
        <c:idx val="43"/>
        <c:spPr>
          <a:solidFill>
            <a:schemeClr val="accent6"/>
          </a:solidFill>
          <a:ln>
            <a:noFill/>
          </a:ln>
          <a:effectLst/>
        </c:spPr>
      </c:pivotFmt>
      <c:pivotFmt>
        <c:idx val="44"/>
        <c:spPr>
          <a:solidFill>
            <a:schemeClr val="accent6"/>
          </a:solidFill>
          <a:ln>
            <a:noFill/>
          </a:ln>
          <a:effectLst/>
        </c:spPr>
      </c:pivotFmt>
      <c:pivotFmt>
        <c:idx val="45"/>
        <c:spPr>
          <a:solidFill>
            <a:schemeClr val="accent6"/>
          </a:solidFill>
          <a:ln>
            <a:noFill/>
          </a:ln>
          <a:effectLst/>
        </c:spPr>
      </c:pivotFmt>
      <c:pivotFmt>
        <c:idx val="4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-3000000" spcFirstLastPara="1" vertOverflow="overflow" horzOverflow="overflow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-3000000" spcFirstLastPara="1" vertOverflow="overflow" horzOverflow="overflow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Graficos!$B$5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CFF66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6969085310628906E-2"/>
                  <c:y val="5.67903890588818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DEB-4C73-B5D5-008586A5B67F}"/>
                </c:ext>
              </c:extLst>
            </c:dLbl>
            <c:dLbl>
              <c:idx val="17"/>
              <c:layout>
                <c:manualLayout>
                  <c:x val="1.2726813982971576E-2"/>
                  <c:y val="2.20851513006762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DEB-4C73-B5D5-008586A5B67F}"/>
                </c:ext>
              </c:extLst>
            </c:dLbl>
            <c:dLbl>
              <c:idx val="18"/>
              <c:layout>
                <c:manualLayout>
                  <c:x val="1.9797266195733722E-2"/>
                  <c:y val="2.20851513006762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DEB-4C73-B5D5-008586A5B67F}"/>
                </c:ext>
              </c:extLst>
            </c:dLbl>
            <c:dLbl>
              <c:idx val="19"/>
              <c:layout>
                <c:manualLayout>
                  <c:x val="3.110998973615289E-2"/>
                  <c:y val="3.54058016127377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EB-4C73-B5D5-008586A5B67F}"/>
                </c:ext>
              </c:extLst>
            </c:dLbl>
            <c:dLbl>
              <c:idx val="21"/>
              <c:layout>
                <c:manualLayout>
                  <c:x val="2.121135663828623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DEB-4C73-B5D5-008586A5B67F}"/>
                </c:ext>
              </c:extLst>
            </c:dLbl>
            <c:dLbl>
              <c:idx val="22"/>
              <c:layout>
                <c:manualLayout>
                  <c:x val="3.419092536964896E-3"/>
                  <c:y val="6.31004322876465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DEB-4C73-B5D5-008586A5B67F}"/>
                </c:ext>
              </c:extLst>
            </c:dLbl>
            <c:spPr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-3000000" spcFirstLastPara="1" vertOverflow="overflow" horzOverflow="overflow" vert="horz" wrap="square" lIns="38100" tIns="19050" rIns="38100" bIns="19050" anchor="t" anchorCtr="0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Graficos!$A$6:$A$29</c:f>
              <c:strCache>
                <c:ptCount val="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</c:strCache>
            </c:strRef>
          </c:cat>
          <c:val>
            <c:numRef>
              <c:f>Graficos!$B$6:$B$29</c:f>
              <c:numCache>
                <c:formatCode>_("$"* #,##0.00_);_("$"* \(#,##0.00\);_("$"* "-"??_);_(@_)</c:formatCode>
                <c:ptCount val="23"/>
                <c:pt idx="0">
                  <c:v>30795.883180000004</c:v>
                </c:pt>
                <c:pt idx="1">
                  <c:v>28408.636579999999</c:v>
                </c:pt>
                <c:pt idx="2">
                  <c:v>34164.10529</c:v>
                </c:pt>
                <c:pt idx="3">
                  <c:v>25547.513180000002</c:v>
                </c:pt>
                <c:pt idx="4">
                  <c:v>32813.612459999997</c:v>
                </c:pt>
                <c:pt idx="5">
                  <c:v>20167.588390000001</c:v>
                </c:pt>
                <c:pt idx="6">
                  <c:v>31897.180699999997</c:v>
                </c:pt>
                <c:pt idx="7">
                  <c:v>29155.716900000003</c:v>
                </c:pt>
                <c:pt idx="8">
                  <c:v>24831.248500000009</c:v>
                </c:pt>
                <c:pt idx="9">
                  <c:v>22846.001319999996</c:v>
                </c:pt>
                <c:pt idx="10">
                  <c:v>20305.673340000005</c:v>
                </c:pt>
                <c:pt idx="11">
                  <c:v>36828.543349999985</c:v>
                </c:pt>
                <c:pt idx="12">
                  <c:v>25641.512899999994</c:v>
                </c:pt>
                <c:pt idx="13">
                  <c:v>22980.308059999999</c:v>
                </c:pt>
                <c:pt idx="14">
                  <c:v>33052.090319999988</c:v>
                </c:pt>
                <c:pt idx="15">
                  <c:v>31539.970670000002</c:v>
                </c:pt>
                <c:pt idx="16">
                  <c:v>25196.22523</c:v>
                </c:pt>
                <c:pt idx="17">
                  <c:v>27893.428750000006</c:v>
                </c:pt>
                <c:pt idx="18">
                  <c:v>29086.509869999987</c:v>
                </c:pt>
                <c:pt idx="19">
                  <c:v>33364.290840000001</c:v>
                </c:pt>
                <c:pt idx="20">
                  <c:v>25536.813360000007</c:v>
                </c:pt>
                <c:pt idx="21">
                  <c:v>36364.898349999996</c:v>
                </c:pt>
                <c:pt idx="22">
                  <c:v>26686.128560000005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B-4C73-B5D5-008586A5B6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7"/>
        <c:axId val="1284841311"/>
        <c:axId val="1284842975"/>
      </c:barChart>
      <c:catAx>
        <c:axId val="12848413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284842975"/>
        <c:crosses val="autoZero"/>
        <c:auto val="1"/>
        <c:lblAlgn val="ctr"/>
        <c:lblOffset val="100"/>
        <c:noMultiLvlLbl val="0"/>
      </c:catAx>
      <c:valAx>
        <c:axId val="128484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284841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[Proyecto Integrador.xlsx]Graficos!TablaDinámica4</c:name>
    <c:fmtId val="3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Graficos!$B$34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CFF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Graficos!$A$35:$A$46</c:f>
              <c:strCache>
                <c:ptCount val="11"/>
                <c:pt idx="0">
                  <c:v>Tulsa</c:v>
                </c:pt>
                <c:pt idx="1">
                  <c:v>New York</c:v>
                </c:pt>
                <c:pt idx="2">
                  <c:v>Fort Wayne</c:v>
                </c:pt>
                <c:pt idx="3">
                  <c:v>Charlotte</c:v>
                </c:pt>
                <c:pt idx="4">
                  <c:v>Miami</c:v>
                </c:pt>
                <c:pt idx="5">
                  <c:v>Tampa</c:v>
                </c:pt>
                <c:pt idx="6">
                  <c:v>Bakersfield</c:v>
                </c:pt>
                <c:pt idx="7">
                  <c:v>Rochester</c:v>
                </c:pt>
                <c:pt idx="8">
                  <c:v>Mobile</c:v>
                </c:pt>
                <c:pt idx="9">
                  <c:v>Lincoln</c:v>
                </c:pt>
                <c:pt idx="10">
                  <c:v>Columbus</c:v>
                </c:pt>
              </c:strCache>
            </c:strRef>
          </c:cat>
          <c:val>
            <c:numRef>
              <c:f>Graficos!$B$35:$B$46</c:f>
              <c:numCache>
                <c:formatCode>General</c:formatCode>
                <c:ptCount val="11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18</c:v>
                </c:pt>
                <c:pt idx="4">
                  <c:v>18</c:v>
                </c:pt>
                <c:pt idx="5">
                  <c:v>17</c:v>
                </c:pt>
                <c:pt idx="6">
                  <c:v>17</c:v>
                </c:pt>
                <c:pt idx="7">
                  <c:v>16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B0-4D34-9467-18903AC35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84829247"/>
        <c:axId val="1284816767"/>
      </c:barChart>
      <c:catAx>
        <c:axId val="128482924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284816767"/>
        <c:crosses val="autoZero"/>
        <c:auto val="1"/>
        <c:lblAlgn val="ctr"/>
        <c:lblOffset val="100"/>
        <c:noMultiLvlLbl val="0"/>
      </c:catAx>
      <c:valAx>
        <c:axId val="12848167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284829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[Proyecto Integrador.xlsx]Graficos!TablaDinámica8</c:name>
    <c:fmtId val="3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Graficos!$B$122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CFF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Graficos!$A$123:$A$134</c:f>
              <c:strCache>
                <c:ptCount val="11"/>
                <c:pt idx="0">
                  <c:v>Beverages</c:v>
                </c:pt>
                <c:pt idx="1">
                  <c:v>Cereals</c:v>
                </c:pt>
                <c:pt idx="2">
                  <c:v>Confections</c:v>
                </c:pt>
                <c:pt idx="3">
                  <c:v>Dairy</c:v>
                </c:pt>
                <c:pt idx="4">
                  <c:v>Grain</c:v>
                </c:pt>
                <c:pt idx="5">
                  <c:v>Meat</c:v>
                </c:pt>
                <c:pt idx="6">
                  <c:v>Poultry</c:v>
                </c:pt>
                <c:pt idx="7">
                  <c:v>Produce</c:v>
                </c:pt>
                <c:pt idx="8">
                  <c:v>Seafood</c:v>
                </c:pt>
                <c:pt idx="9">
                  <c:v>Shell fish</c:v>
                </c:pt>
                <c:pt idx="10">
                  <c:v>Snails</c:v>
                </c:pt>
              </c:strCache>
            </c:strRef>
          </c:cat>
          <c:val>
            <c:numRef>
              <c:f>Graficos!$B$123:$B$134</c:f>
              <c:numCache>
                <c:formatCode>0.0</c:formatCode>
                <c:ptCount val="11"/>
                <c:pt idx="0">
                  <c:v>18.578947368421051</c:v>
                </c:pt>
                <c:pt idx="1">
                  <c:v>24.333333333333332</c:v>
                </c:pt>
                <c:pt idx="2">
                  <c:v>19.473684210526315</c:v>
                </c:pt>
                <c:pt idx="3">
                  <c:v>17.714285714285715</c:v>
                </c:pt>
                <c:pt idx="4">
                  <c:v>37.107142857142854</c:v>
                </c:pt>
                <c:pt idx="5">
                  <c:v>22.56</c:v>
                </c:pt>
                <c:pt idx="6">
                  <c:v>28.042553191489361</c:v>
                </c:pt>
                <c:pt idx="7">
                  <c:v>31.046511627906977</c:v>
                </c:pt>
                <c:pt idx="8">
                  <c:v>39.444444444444443</c:v>
                </c:pt>
                <c:pt idx="9">
                  <c:v>25.277777777777779</c:v>
                </c:pt>
                <c:pt idx="10">
                  <c:v>29.324324324324323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2-4CE5-885E-60C3546868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075295007"/>
        <c:axId val="1075296255"/>
      </c:barChart>
      <c:catAx>
        <c:axId val="107529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075296255"/>
        <c:crosses val="autoZero"/>
        <c:auto val="1"/>
        <c:lblAlgn val="ctr"/>
        <c:lblOffset val="100"/>
        <c:noMultiLvlLbl val="0"/>
      </c:catAx>
      <c:valAx>
        <c:axId val="1075296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07529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1e9418e3c38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1e9418e3c38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1e9418e3c38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1e9418e3c38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294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1e950aa7105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1e950aa7105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1e9418e3c3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1e9418e3c3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10800000" flipH="1">
            <a:off x="-78450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15"/>
          <p:cNvGrpSpPr/>
          <p:nvPr/>
        </p:nvGrpSpPr>
        <p:grpSpPr>
          <a:xfrm>
            <a:off x="6912000" y="0"/>
            <a:ext cx="2450875" cy="5156372"/>
            <a:chOff x="6912000" y="0"/>
            <a:chExt cx="2450875" cy="5156372"/>
          </a:xfrm>
        </p:grpSpPr>
        <p:sp>
          <p:nvSpPr>
            <p:cNvPr id="355" name="Google Shape;355;p15"/>
            <p:cNvSpPr/>
            <p:nvPr/>
          </p:nvSpPr>
          <p:spPr>
            <a:xfrm rot="10800000">
              <a:off x="8516400" y="3699572"/>
              <a:ext cx="627600" cy="1456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7480375" y="46842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10800000">
              <a:off x="6912000" y="0"/>
              <a:ext cx="2232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-2178113" y="927159"/>
            <a:ext cx="5103863" cy="4329741"/>
            <a:chOff x="-2178113" y="927159"/>
            <a:chExt cx="5103863" cy="4329741"/>
          </a:xfrm>
        </p:grpSpPr>
        <p:sp>
          <p:nvSpPr>
            <p:cNvPr id="359" name="Google Shape;359;p15"/>
            <p:cNvSpPr/>
            <p:nvPr/>
          </p:nvSpPr>
          <p:spPr>
            <a:xfrm rot="8100000">
              <a:off x="-1696423" y="1408849"/>
              <a:ext cx="2325803" cy="2325803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-78450" y="4684200"/>
              <a:ext cx="3004200" cy="5727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361" name="Google Shape;361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7_1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7"/>
          <p:cNvSpPr/>
          <p:nvPr/>
        </p:nvSpPr>
        <p:spPr>
          <a:xfrm rot="-5400000">
            <a:off x="7193025" y="4603988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7"/>
          <p:cNvGrpSpPr/>
          <p:nvPr/>
        </p:nvGrpSpPr>
        <p:grpSpPr>
          <a:xfrm>
            <a:off x="-502850" y="-12"/>
            <a:ext cx="9646850" cy="5143513"/>
            <a:chOff x="-502850" y="-12"/>
            <a:chExt cx="9646850" cy="5143513"/>
          </a:xfrm>
        </p:grpSpPr>
        <p:sp>
          <p:nvSpPr>
            <p:cNvPr id="408" name="Google Shape;408;p17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-502850" y="313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0" y="2817600"/>
              <a:ext cx="593700" cy="2325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0" y="4780475"/>
              <a:ext cx="1882500" cy="3630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12" name="Google Shape;412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33"/>
          <p:cNvGrpSpPr/>
          <p:nvPr/>
        </p:nvGrpSpPr>
        <p:grpSpPr>
          <a:xfrm>
            <a:off x="0" y="-25"/>
            <a:ext cx="9552075" cy="5143375"/>
            <a:chOff x="0" y="-25"/>
            <a:chExt cx="9552075" cy="5143375"/>
          </a:xfrm>
        </p:grpSpPr>
        <p:sp>
          <p:nvSpPr>
            <p:cNvPr id="882" name="Google Shape;882;p33"/>
            <p:cNvSpPr/>
            <p:nvPr/>
          </p:nvSpPr>
          <p:spPr>
            <a:xfrm>
              <a:off x="0" y="0"/>
              <a:ext cx="722400" cy="24021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86" name="Google Shape;886;p33"/>
          <p:cNvGrpSpPr/>
          <p:nvPr/>
        </p:nvGrpSpPr>
        <p:grpSpPr>
          <a:xfrm>
            <a:off x="489563" y="-211525"/>
            <a:ext cx="8425113" cy="6291588"/>
            <a:chOff x="489563" y="-211525"/>
            <a:chExt cx="8425113" cy="6291588"/>
          </a:xfrm>
        </p:grpSpPr>
        <p:grpSp>
          <p:nvGrpSpPr>
            <p:cNvPr id="887" name="Google Shape;887;p33"/>
            <p:cNvGrpSpPr/>
            <p:nvPr/>
          </p:nvGrpSpPr>
          <p:grpSpPr>
            <a:xfrm>
              <a:off x="489563" y="4195813"/>
              <a:ext cx="1885275" cy="1884250"/>
              <a:chOff x="2609275" y="3149350"/>
              <a:chExt cx="1885275" cy="1884250"/>
            </a:xfrm>
          </p:grpSpPr>
          <p:sp>
            <p:nvSpPr>
              <p:cNvPr id="888" name="Google Shape;888;p3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7" name="Google Shape;907;p33"/>
            <p:cNvGrpSpPr/>
            <p:nvPr/>
          </p:nvGrpSpPr>
          <p:grpSpPr>
            <a:xfrm>
              <a:off x="7928550" y="-211525"/>
              <a:ext cx="986125" cy="2095500"/>
              <a:chOff x="7631225" y="2241175"/>
              <a:chExt cx="986125" cy="2095500"/>
            </a:xfrm>
          </p:grpSpPr>
          <p:cxnSp>
            <p:nvCxnSpPr>
              <p:cNvPr id="908" name="Google Shape;908;p3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3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3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3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3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3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33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1" r:id="rId3"/>
    <p:sldLayoutId id="2147483663" r:id="rId4"/>
    <p:sldLayoutId id="2147483678" r:id="rId5"/>
    <p:sldLayoutId id="214748367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0" dirty="0"/>
              <a:t>GROCERY SALES</a:t>
            </a:r>
            <a:endParaRPr sz="4100" b="0" dirty="0"/>
          </a:p>
        </p:txBody>
      </p:sp>
      <p:sp>
        <p:nvSpPr>
          <p:cNvPr id="933" name="Google Shape;933;p37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GRUPO # 2</a:t>
            </a:r>
            <a:endParaRPr dirty="0"/>
          </a:p>
        </p:txBody>
      </p:sp>
      <p:grpSp>
        <p:nvGrpSpPr>
          <p:cNvPr id="934" name="Google Shape;934;p37"/>
          <p:cNvGrpSpPr/>
          <p:nvPr/>
        </p:nvGrpSpPr>
        <p:grpSpPr>
          <a:xfrm>
            <a:off x="5524419" y="2241175"/>
            <a:ext cx="3619432" cy="2902209"/>
            <a:chOff x="5524419" y="2241175"/>
            <a:chExt cx="3619432" cy="2902209"/>
          </a:xfrm>
        </p:grpSpPr>
        <p:grpSp>
          <p:nvGrpSpPr>
            <p:cNvPr id="935" name="Google Shape;935;p37"/>
            <p:cNvGrpSpPr/>
            <p:nvPr/>
          </p:nvGrpSpPr>
          <p:grpSpPr>
            <a:xfrm>
              <a:off x="5524419" y="4160759"/>
              <a:ext cx="3619432" cy="982624"/>
              <a:chOff x="4986600" y="4014825"/>
              <a:chExt cx="4157400" cy="1128675"/>
            </a:xfrm>
          </p:grpSpPr>
          <p:sp>
            <p:nvSpPr>
              <p:cNvPr id="936" name="Google Shape;936;p37"/>
              <p:cNvSpPr/>
              <p:nvPr/>
            </p:nvSpPr>
            <p:spPr>
              <a:xfrm flipH="1">
                <a:off x="5715000" y="4014825"/>
                <a:ext cx="3429000" cy="1128600"/>
              </a:xfrm>
              <a:prstGeom prst="round1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937" name="Google Shape;937;p37"/>
              <p:cNvSpPr/>
              <p:nvPr/>
            </p:nvSpPr>
            <p:spPr>
              <a:xfrm flipH="1">
                <a:off x="4986600" y="4527300"/>
                <a:ext cx="4157400" cy="616200"/>
              </a:xfrm>
              <a:prstGeom prst="round1Rect">
                <a:avLst>
                  <a:gd name="adj" fmla="val 50000"/>
                </a:avLst>
              </a:prstGeom>
              <a:solidFill>
                <a:srgbClr val="63DBF5">
                  <a:alpha val="6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grpSp>
          <p:nvGrpSpPr>
            <p:cNvPr id="938" name="Google Shape;938;p37"/>
            <p:cNvGrpSpPr/>
            <p:nvPr/>
          </p:nvGrpSpPr>
          <p:grpSpPr>
            <a:xfrm>
              <a:off x="7631225" y="2241175"/>
              <a:ext cx="986125" cy="2095500"/>
              <a:chOff x="7631225" y="2241175"/>
              <a:chExt cx="986125" cy="2095500"/>
            </a:xfrm>
          </p:grpSpPr>
          <p:cxnSp>
            <p:nvCxnSpPr>
              <p:cNvPr id="939" name="Google Shape;939;p37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0" name="Google Shape;940;p37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1" name="Google Shape;941;p37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2" name="Google Shape;942;p37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3" name="Google Shape;943;p37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4" name="Google Shape;944;p37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5" name="Google Shape;945;p37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6" name="Google Shape;946;p37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37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8" name="Google Shape;948;p37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9" name="Google Shape;949;p37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0" name="Google Shape;950;p37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1" name="Google Shape;951;p37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2" name="Google Shape;952;p37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53" name="Google Shape;953;p37"/>
          <p:cNvGrpSpPr/>
          <p:nvPr/>
        </p:nvGrpSpPr>
        <p:grpSpPr>
          <a:xfrm>
            <a:off x="-630087" y="1859288"/>
            <a:ext cx="2893588" cy="3284238"/>
            <a:chOff x="-630087" y="1859288"/>
            <a:chExt cx="2893588" cy="3284238"/>
          </a:xfrm>
        </p:grpSpPr>
        <p:sp>
          <p:nvSpPr>
            <p:cNvPr id="954" name="Google Shape;954;p37"/>
            <p:cNvSpPr/>
            <p:nvPr/>
          </p:nvSpPr>
          <p:spPr>
            <a:xfrm>
              <a:off x="0" y="3272100"/>
              <a:ext cx="12552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956" name="Google Shape;956;p37"/>
            <p:cNvGrpSpPr/>
            <p:nvPr/>
          </p:nvGrpSpPr>
          <p:grpSpPr>
            <a:xfrm>
              <a:off x="-630087" y="1859288"/>
              <a:ext cx="1885275" cy="1884250"/>
              <a:chOff x="2609275" y="3149350"/>
              <a:chExt cx="1885275" cy="1884250"/>
            </a:xfrm>
          </p:grpSpPr>
          <p:sp>
            <p:nvSpPr>
              <p:cNvPr id="957" name="Google Shape;957;p3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6" name="Google Shape;976;p37"/>
          <p:cNvGrpSpPr/>
          <p:nvPr/>
        </p:nvGrpSpPr>
        <p:grpSpPr>
          <a:xfrm>
            <a:off x="5969750" y="-1678600"/>
            <a:ext cx="3756875" cy="2788075"/>
            <a:chOff x="5969750" y="-1678600"/>
            <a:chExt cx="3756875" cy="2788075"/>
          </a:xfrm>
        </p:grpSpPr>
        <p:sp>
          <p:nvSpPr>
            <p:cNvPr id="977" name="Google Shape;977;p37"/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78" name="Google Shape;978;p37"/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63"/>
          <p:cNvSpPr txBox="1">
            <a:spLocks noGrp="1"/>
          </p:cNvSpPr>
          <p:nvPr>
            <p:ph type="title"/>
          </p:nvPr>
        </p:nvSpPr>
        <p:spPr>
          <a:xfrm>
            <a:off x="722400" y="73559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Total de Ventas por Vendedor</a:t>
            </a:r>
            <a:endParaRPr dirty="0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2B7EB73D-AF98-44FA-A40D-562A130A5B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352042"/>
              </p:ext>
            </p:extLst>
          </p:nvPr>
        </p:nvGraphicFramePr>
        <p:xfrm>
          <a:off x="81481" y="646258"/>
          <a:ext cx="8981038" cy="4025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63"/>
          <p:cNvSpPr txBox="1">
            <a:spLocks noGrp="1"/>
          </p:cNvSpPr>
          <p:nvPr>
            <p:ph type="title"/>
          </p:nvPr>
        </p:nvSpPr>
        <p:spPr>
          <a:xfrm>
            <a:off x="0" y="116322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 10 Ciudades con Mayor Clientes</a:t>
            </a:r>
            <a:endParaRPr dirty="0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ED24A4F-782B-4556-A987-5C1851C5C3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027835"/>
              </p:ext>
            </p:extLst>
          </p:nvPr>
        </p:nvGraphicFramePr>
        <p:xfrm>
          <a:off x="1017462" y="939385"/>
          <a:ext cx="7109026" cy="3801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370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6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Tiempo Promedio de Vida Útil</a:t>
            </a:r>
            <a:endParaRPr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C96CE77-2719-7A31-F86F-EB2C1FEDA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882325"/>
              </p:ext>
            </p:extLst>
          </p:nvPr>
        </p:nvGraphicFramePr>
        <p:xfrm>
          <a:off x="642862" y="1467117"/>
          <a:ext cx="2806016" cy="2476500"/>
        </p:xfrm>
        <a:graphic>
          <a:graphicData uri="http://schemas.openxmlformats.org/drawingml/2006/table">
            <a:tbl>
              <a:tblPr/>
              <a:tblGrid>
                <a:gridCol w="1045651">
                  <a:extLst>
                    <a:ext uri="{9D8B030D-6E8A-4147-A177-3AD203B41FA5}">
                      <a16:colId xmlns:a16="http://schemas.microsoft.com/office/drawing/2014/main" val="2361122800"/>
                    </a:ext>
                  </a:extLst>
                </a:gridCol>
                <a:gridCol w="1760365">
                  <a:extLst>
                    <a:ext uri="{9D8B030D-6E8A-4147-A177-3AD203B41FA5}">
                      <a16:colId xmlns:a16="http://schemas.microsoft.com/office/drawing/2014/main" val="355352115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Etiquetas de fila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Promedio de VitalityDays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8499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Beverages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0796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Cereals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8157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Confections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4322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273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9987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6679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Poultry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6726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7384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Seafood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137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Shell fish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5117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Snails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298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C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general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C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74139"/>
                  </a:ext>
                </a:extLst>
              </a:tr>
            </a:tbl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7DFF9B27-F2D7-4B1A-B6F4-3A564BAB40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8841160"/>
              </p:ext>
            </p:extLst>
          </p:nvPr>
        </p:nvGraphicFramePr>
        <p:xfrm>
          <a:off x="3448878" y="1131096"/>
          <a:ext cx="5538698" cy="3441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5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sp>
        <p:nvSpPr>
          <p:cNvPr id="1383" name="Google Shape;1383;p55"/>
          <p:cNvSpPr txBox="1"/>
          <p:nvPr/>
        </p:nvSpPr>
        <p:spPr>
          <a:xfrm>
            <a:off x="1413361" y="1434825"/>
            <a:ext cx="6329221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 observar el primer gráfico podemos concluir que los que mas han vendido son el vendedor 12 y el vendedor 22 con $36828,54 y $36364,90 respectivamente</a:t>
            </a:r>
            <a:r>
              <a:rPr lang="en" sz="2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8" name="Google Shape;1388;p55"/>
          <p:cNvSpPr txBox="1"/>
          <p:nvPr/>
        </p:nvSpPr>
        <p:spPr>
          <a:xfrm>
            <a:off x="1413362" y="2505050"/>
            <a:ext cx="632922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Podemos concluir al observar el segundo gráfico que hay varias ciudades que coinciden en el número de clientes y que la cuidad con mas clientes es Tulsa.</a:t>
            </a:r>
            <a:endParaRPr sz="1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3" name="Google Shape;1393;p55"/>
          <p:cNvSpPr txBox="1"/>
          <p:nvPr/>
        </p:nvSpPr>
        <p:spPr>
          <a:xfrm>
            <a:off x="1413362" y="3575275"/>
            <a:ext cx="632922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Concluimos que los productos con mayor promedio de vida útil son Seafood con 39,4 días y Grain 37,1 días; mientras que los de menor vida útil son Dairy con 17,7 días y Beverages con 18,6 días .</a:t>
            </a:r>
            <a:endParaRPr sz="1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Presentación en pantalla (16:9)</PresentationFormat>
  <Paragraphs>41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Calibri</vt:lpstr>
      <vt:lpstr>Maven Pro</vt:lpstr>
      <vt:lpstr>Montserrat</vt:lpstr>
      <vt:lpstr>Arial</vt:lpstr>
      <vt:lpstr>Business Annual Report by Slidesgo</vt:lpstr>
      <vt:lpstr>GROCERY SALES</vt:lpstr>
      <vt:lpstr>Total de Ventas por Vendedor</vt:lpstr>
      <vt:lpstr>Top 10 Ciudades con Mayor Clientes</vt:lpstr>
      <vt:lpstr>Tiempo Promedio de Vida Útil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HERRERA MORANTE BRITHANY ABIGAIL</cp:lastModifiedBy>
  <cp:revision>1</cp:revision>
  <dcterms:modified xsi:type="dcterms:W3CDTF">2025-08-22T21:06:02Z</dcterms:modified>
</cp:coreProperties>
</file>